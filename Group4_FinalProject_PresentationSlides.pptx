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261" r:id="rId6"/>
    <p:sldId id="281" r:id="rId7"/>
    <p:sldId id="282" r:id="rId8"/>
    <p:sldId id="283" r:id="rId9"/>
    <p:sldId id="284" r:id="rId10"/>
    <p:sldId id="262" r:id="rId11"/>
    <p:sldId id="266" r:id="rId12"/>
    <p:sldId id="268" r:id="rId13"/>
    <p:sldId id="273" r:id="rId14"/>
    <p:sldId id="274" r:id="rId15"/>
    <p:sldId id="275" r:id="rId16"/>
    <p:sldId id="276" r:id="rId17"/>
    <p:sldId id="280" r:id="rId18"/>
    <p:sldId id="278" r:id="rId19"/>
    <p:sldId id="269" r:id="rId20"/>
    <p:sldId id="270" r:id="rId21"/>
    <p:sldId id="271" r:id="rId22"/>
    <p:sldId id="28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FEEA0-6F05-42EF-9BF4-8483A1A6F5D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CAC04-9816-4723-A893-BDA9A2E25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5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CAC04-9816-4723-A893-BDA9A2E25FD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38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jpg"/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beehaShoaib/SkillBridge-Tech-AICT-Project" TargetMode="External"/><Relationship Id="rId2" Type="http://schemas.openxmlformats.org/officeDocument/2006/relationships/hyperlink" Target="https://nabeehashoaib.github.io/SkillBridge-Tech-AICT-Project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NabeehaShoaib/SkillBridge-Tech-Project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5A81E-3332-7662-4D39-59F1F5960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418" y="451841"/>
            <a:ext cx="9365753" cy="565912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dirty="0"/>
              <a:t>Project title: </a:t>
            </a:r>
            <a:br>
              <a:rPr lang="en-US" dirty="0"/>
            </a:br>
            <a:r>
              <a:rPr lang="en-US" dirty="0"/>
              <a:t>skill-bridge tech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1F28F9-9975-3D92-81AF-FC23B3DD1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006" y="-90419"/>
            <a:ext cx="4067716" cy="3168589"/>
          </a:xfrm>
          <a:prstGeom prst="ellipse">
            <a:avLst/>
          </a:prstGeom>
          <a:ln>
            <a:noFill/>
          </a:ln>
          <a:effectLst>
            <a:softEdge rad="6350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3AE5FB-1C15-D331-1C31-5A9ABD41C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307" b="96965" l="8307" r="92812">
                        <a14:foregroundMark x1="88978" y1="53514" x2="88978" y2="53514"/>
                        <a14:foregroundMark x1="88019" y1="51757" x2="88019" y2="51757"/>
                        <a14:foregroundMark x1="24760" y1="9585" x2="24760" y2="9585"/>
                        <a14:foregroundMark x1="24760" y1="8307" x2="24760" y2="8307"/>
                        <a14:foregroundMark x1="54473" y1="86262" x2="54473" y2="86262"/>
                        <a14:foregroundMark x1="47444" y1="85144" x2="47444" y2="85144"/>
                        <a14:foregroundMark x1="54473" y1="88019" x2="54473" y2="88019"/>
                        <a14:foregroundMark x1="34185" y1="82748" x2="54313" y2="90415"/>
                        <a14:foregroundMark x1="54313" y1="90415" x2="68850" y2="85942"/>
                        <a14:foregroundMark x1="13419" y1="66933" x2="18051" y2="75559"/>
                        <a14:foregroundMark x1="49840" y1="91054" x2="68051" y2="88179"/>
                        <a14:foregroundMark x1="68051" y1="88179" x2="75559" y2="83706"/>
                        <a14:foregroundMark x1="43770" y1="87540" x2="62620" y2="91054"/>
                        <a14:foregroundMark x1="62620" y1="91054" x2="75240" y2="83866"/>
                        <a14:foregroundMark x1="86581" y1="73802" x2="88339" y2="78275"/>
                        <a14:foregroundMark x1="21725" y1="30990" x2="17093" y2="47444"/>
                        <a14:foregroundMark x1="17093" y1="47444" x2="18051" y2="51438"/>
                        <a14:foregroundMark x1="55591" y1="15176" x2="62141" y2="25559"/>
                        <a14:foregroundMark x1="49521" y1="16933" x2="60224" y2="19329"/>
                        <a14:foregroundMark x1="59585" y1="17572" x2="59585" y2="17572"/>
                        <a14:foregroundMark x1="58147" y1="18530" x2="61182" y2="21725"/>
                        <a14:foregroundMark x1="77636" y1="30990" x2="88019" y2="46326"/>
                        <a14:foregroundMark x1="88019" y1="46326" x2="88339" y2="50319"/>
                        <a14:foregroundMark x1="78914" y1="29712" x2="85463" y2="43610"/>
                        <a14:foregroundMark x1="85463" y1="43610" x2="85304" y2="48243"/>
                        <a14:foregroundMark x1="79553" y1="30351" x2="87700" y2="46965"/>
                        <a14:foregroundMark x1="90256" y1="38339" x2="84026" y2="25719"/>
                        <a14:foregroundMark x1="84026" y1="25719" x2="80990" y2="27636"/>
                        <a14:foregroundMark x1="78914" y1="30990" x2="87700" y2="25879"/>
                        <a14:foregroundMark x1="78275" y1="52716" x2="78275" y2="52716"/>
                        <a14:foregroundMark x1="84984" y1="57987" x2="84984" y2="57987"/>
                        <a14:foregroundMark x1="92971" y1="56230" x2="92971" y2="56230"/>
                        <a14:foregroundMark x1="52236" y1="92492" x2="77636" y2="83387"/>
                        <a14:foregroundMark x1="54792" y1="95208" x2="60543" y2="92013"/>
                        <a14:foregroundMark x1="65815" y1="91374" x2="69169" y2="87220"/>
                        <a14:foregroundMark x1="62620" y1="90735" x2="70927" y2="88019"/>
                        <a14:foregroundMark x1="70909" y1="88658" x2="71885" y2="88339"/>
                        <a14:foregroundMark x1="63578" y1="91054" x2="70909" y2="88658"/>
                        <a14:foregroundMark x1="15016" y1="74760" x2="10703" y2="67572"/>
                        <a14:foregroundMark x1="11981" y1="59744" x2="11661" y2="51118"/>
                        <a14:foregroundMark x1="10064" y1="67252" x2="8626" y2="37380"/>
                        <a14:foregroundMark x1="8626" y1="37380" x2="12300" y2="38019"/>
                        <a14:foregroundMark x1="12780" y1="38339" x2="14696" y2="51438"/>
                        <a14:foregroundMark x1="9744" y1="39936" x2="9744" y2="39936"/>
                        <a14:foregroundMark x1="64856" y1="18530" x2="49681" y2="18690"/>
                        <a14:foregroundMark x1="49681" y1="18690" x2="49840" y2="20288"/>
                        <a14:foregroundMark x1="65176" y1="91054" x2="71885" y2="84505"/>
                        <a14:foregroundMark x1="13099" y1="30671" x2="13099" y2="30671"/>
                        <a14:foregroundMark x1="13738" y1="31310" x2="13738" y2="31310"/>
                        <a14:foregroundMark x1="14058" y1="30671" x2="14058" y2="30671"/>
                        <a14:foregroundMark x1="14377" y1="30990" x2="14377" y2="30990"/>
                        <a14:foregroundMark x1="13738" y1="30990" x2="13738" y2="30990"/>
                        <a14:foregroundMark x1="72524" y1="92492" x2="72524" y2="92492"/>
                        <a14:foregroundMark x1="74601" y1="90256" x2="74601" y2="90256"/>
                        <a14:foregroundMark x1="75879" y1="89936" x2="75879" y2="89936"/>
                        <a14:foregroundMark x1="75559" y1="90256" x2="75559" y2="90256"/>
                        <a14:foregroundMark x1="68329" y1="91352" x2="75240" y2="90415"/>
                        <a14:foregroundMark x1="65815" y1="91693" x2="66644" y2="91581"/>
                        <a14:foregroundMark x1="68721" y1="91671" x2="73962" y2="91054"/>
                        <a14:foregroundMark x1="65815" y1="92013" x2="66209" y2="91967"/>
                        <a14:foregroundMark x1="70113" y1="92805" x2="71707" y2="93021"/>
                        <a14:foregroundMark x1="64217" y1="92812" x2="64217" y2="92812"/>
                        <a14:foregroundMark x1="71246" y1="93131" x2="75559" y2="91374"/>
                        <a14:foregroundMark x1="75559" y1="90415" x2="75559" y2="90415"/>
                        <a14:foregroundMark x1="75559" y1="90415" x2="75559" y2="90415"/>
                        <a14:foregroundMark x1="74920" y1="90415" x2="74920" y2="90415"/>
                        <a14:foregroundMark x1="74920" y1="90415" x2="74281" y2="92013"/>
                        <a14:foregroundMark x1="74066" y1="92515" x2="75240" y2="91693"/>
                        <a14:foregroundMark x1="75879" y1="90415" x2="75879" y2="90415"/>
                        <a14:foregroundMark x1="75879" y1="90415" x2="76518" y2="90415"/>
                        <a14:foregroundMark x1="76198" y1="89617" x2="76518" y2="90415"/>
                        <a14:foregroundMark x1="74056" y1="92517" x2="75559" y2="91054"/>
                        <a14:foregroundMark x1="50479" y1="16134" x2="50479" y2="16134"/>
                        <a14:foregroundMark x1="49201" y1="16933" x2="55112" y2="16134"/>
                        <a14:foregroundMark x1="49201" y1="17252" x2="49201" y2="17252"/>
                        <a14:foregroundMark x1="49201" y1="17252" x2="55591" y2="16613"/>
                        <a14:foregroundMark x1="55112" y1="14856" x2="55112" y2="14856"/>
                        <a14:foregroundMark x1="55112" y1="14856" x2="51118" y2="15176"/>
                        <a14:foregroundMark x1="54153" y1="15176" x2="54153" y2="15176"/>
                        <a14:foregroundMark x1="62939" y1="16933" x2="55911" y2="15176"/>
                        <a14:foregroundMark x1="64217" y1="16134" x2="52875" y2="14217"/>
                        <a14:foregroundMark x1="85623" y1="22843" x2="85623" y2="22843"/>
                        <a14:foregroundMark x1="85623" y1="22684" x2="85623" y2="22684"/>
                        <a14:backgroundMark x1="64537" y1="93450" x2="68850" y2="96965"/>
                        <a14:backgroundMark x1="69968" y1="94569" x2="69968" y2="94569"/>
                        <a14:backgroundMark x1="69968" y1="97604" x2="69968" y2="97604"/>
                        <a14:backgroundMark x1="70607" y1="96486" x2="70607" y2="96486"/>
                        <a14:backgroundMark x1="69169" y1="97284" x2="69169" y2="97284"/>
                        <a14:backgroundMark x1="67891" y1="96965" x2="74601" y2="95527"/>
                        <a14:backgroundMark x1="71565" y1="96166" x2="71565" y2="96166"/>
                        <a14:backgroundMark x1="81629" y1="89617" x2="81629" y2="89617"/>
                        <a14:backgroundMark x1="77636" y1="88339" x2="77636" y2="88339"/>
                        <a14:backgroundMark x1="76198" y1="88658" x2="76198" y2="88658"/>
                        <a14:backgroundMark x1="79233" y1="89617" x2="79233" y2="89617"/>
                        <a14:backgroundMark x1="85304" y1="89617" x2="85304" y2="89617"/>
                        <a14:backgroundMark x1="75240" y1="88658" x2="75240" y2="88658"/>
                        <a14:backgroundMark x1="73962" y1="89297" x2="73962" y2="89297"/>
                        <a14:backgroundMark x1="54153" y1="13099" x2="54153" y2="13099"/>
                        <a14:backgroundMark x1="55591" y1="13738" x2="55591" y2="137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32665" y="3923415"/>
            <a:ext cx="2980657" cy="2934585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EB3A11-6A51-0E17-9BD4-C2B9BFA1F2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620" b="93207" l="3397" r="96467">
                        <a14:foregroundMark x1="75815" y1="20516" x2="75815" y2="20516"/>
                        <a14:foregroundMark x1="69837" y1="22826" x2="69837" y2="22826"/>
                        <a14:foregroundMark x1="76766" y1="17527" x2="76766" y2="17527"/>
                        <a14:foregroundMark x1="76766" y1="17527" x2="79891" y2="17255"/>
                        <a14:foregroundMark x1="83016" y1="16304" x2="83016" y2="16304"/>
                        <a14:foregroundMark x1="51630" y1="9511" x2="51630" y2="9511"/>
                        <a14:foregroundMark x1="52446" y1="7745" x2="52446" y2="7745"/>
                        <a14:foregroundMark x1="59647" y1="37364" x2="59647" y2="37364"/>
                        <a14:foregroundMark x1="59375" y1="39130" x2="59375" y2="39130"/>
                        <a14:foregroundMark x1="57880" y1="44837" x2="57880" y2="44837"/>
                        <a14:foregroundMark x1="57880" y1="44837" x2="57337" y2="40897"/>
                        <a14:foregroundMark x1="55571" y1="37364" x2="55571" y2="37364"/>
                        <a14:foregroundMark x1="52174" y1="37364" x2="55842" y2="27582"/>
                        <a14:foregroundMark x1="41576" y1="58696" x2="29076" y2="60598"/>
                        <a14:foregroundMark x1="29076" y1="60598" x2="25951" y2="74185"/>
                        <a14:foregroundMark x1="25951" y1="74185" x2="35054" y2="71467"/>
                        <a14:foregroundMark x1="23098" y1="61957" x2="12908" y2="74321"/>
                        <a14:foregroundMark x1="12908" y1="74321" x2="29348" y2="79212"/>
                        <a14:foregroundMark x1="7609" y1="80435" x2="19158" y2="81929"/>
                        <a14:foregroundMark x1="19158" y1="81929" x2="26766" y2="80435"/>
                        <a14:foregroundMark x1="66984" y1="26087" x2="78804" y2="16304"/>
                        <a14:foregroundMark x1="78804" y1="16304" x2="70516" y2="27853"/>
                        <a14:foregroundMark x1="66168" y1="17799" x2="76902" y2="12364"/>
                        <a14:foregroundMark x1="76902" y1="12364" x2="87636" y2="21875"/>
                        <a14:foregroundMark x1="87636" y1="21875" x2="73641" y2="26359"/>
                        <a14:foregroundMark x1="75815" y1="11005" x2="87364" y2="18750"/>
                        <a14:foregroundMark x1="87364" y1="18750" x2="87636" y2="19293"/>
                        <a14:foregroundMark x1="75272" y1="11277" x2="87636" y2="14266"/>
                        <a14:foregroundMark x1="87636" y1="14266" x2="87364" y2="19022"/>
                        <a14:foregroundMark x1="18750" y1="11277" x2="18750" y2="11277"/>
                        <a14:foregroundMark x1="14810" y1="22554" x2="14810" y2="22554"/>
                        <a14:foregroundMark x1="11685" y1="42391" x2="11685" y2="42391"/>
                        <a14:foregroundMark x1="13451" y1="41304" x2="13451" y2="41304"/>
                        <a14:foregroundMark x1="12772" y1="43071" x2="12772" y2="43071"/>
                        <a14:foregroundMark x1="11685" y1="45109" x2="11685" y2="45109"/>
                        <a14:foregroundMark x1="11685" y1="45109" x2="11685" y2="45109"/>
                        <a14:foregroundMark x1="11957" y1="42391" x2="11957" y2="42391"/>
                        <a14:foregroundMark x1="12772" y1="39402" x2="12772" y2="39402"/>
                        <a14:foregroundMark x1="12772" y1="39402" x2="12228" y2="40353"/>
                        <a14:foregroundMark x1="14266" y1="38859" x2="14266" y2="38859"/>
                        <a14:foregroundMark x1="11413" y1="43342" x2="11413" y2="43342"/>
                        <a14:foregroundMark x1="11413" y1="41304" x2="11413" y2="41304"/>
                        <a14:foregroundMark x1="65625" y1="87772" x2="65625" y2="87772"/>
                        <a14:foregroundMark x1="80978" y1="89266" x2="80978" y2="89266"/>
                        <a14:foregroundMark x1="80707" y1="91984" x2="80707" y2="91984"/>
                        <a14:foregroundMark x1="80707" y1="88995" x2="80707" y2="88995"/>
                        <a14:foregroundMark x1="75543" y1="89266" x2="75543" y2="89266"/>
                        <a14:foregroundMark x1="77310" y1="91712" x2="77310" y2="91712"/>
                        <a14:foregroundMark x1="39674" y1="92935" x2="39674" y2="92935"/>
                        <a14:foregroundMark x1="36821" y1="92935" x2="36821" y2="92935"/>
                        <a14:foregroundMark x1="18207" y1="89266" x2="18207" y2="89266"/>
                        <a14:foregroundMark x1="87636" y1="67391" x2="87636" y2="67391"/>
                        <a14:foregroundMark x1="87228" y1="56386" x2="87228" y2="56386"/>
                        <a14:foregroundMark x1="87636" y1="56386" x2="87636" y2="56386"/>
                        <a14:foregroundMark x1="88451" y1="54620" x2="88451" y2="54620"/>
                        <a14:foregroundMark x1="90217" y1="41848" x2="90217" y2="41848"/>
                        <a14:foregroundMark x1="89538" y1="42120" x2="89538" y2="42120"/>
                        <a14:foregroundMark x1="19973" y1="10734" x2="19973" y2="10734"/>
                        <a14:foregroundMark x1="16576" y1="25815" x2="16576" y2="25815"/>
                        <a14:foregroundMark x1="14810" y1="27853" x2="14810" y2="27853"/>
                        <a14:foregroundMark x1="16168" y1="30842" x2="16168" y2="30842"/>
                        <a14:foregroundMark x1="15082" y1="35870" x2="15082" y2="35870"/>
                        <a14:foregroundMark x1="15897" y1="29348" x2="15897" y2="29348"/>
                        <a14:foregroundMark x1="16304" y1="28125" x2="16304" y2="28125"/>
                        <a14:foregroundMark x1="16576" y1="30027" x2="16576" y2="30027"/>
                        <a14:foregroundMark x1="15353" y1="30027" x2="15353" y2="30027"/>
                        <a14:foregroundMark x1="15353" y1="30571" x2="15353" y2="30571"/>
                        <a14:foregroundMark x1="15353" y1="30571" x2="15353" y2="32880"/>
                        <a14:foregroundMark x1="14810" y1="35326" x2="14810" y2="35326"/>
                        <a14:foregroundMark x1="14538" y1="34375" x2="14538" y2="34375"/>
                        <a14:foregroundMark x1="16304" y1="34783" x2="16304" y2="34783"/>
                        <a14:foregroundMark x1="14810" y1="34783" x2="14810" y2="34783"/>
                        <a14:foregroundMark x1="15082" y1="37364" x2="15082" y2="37364"/>
                        <a14:foregroundMark x1="16168" y1="38043" x2="16168" y2="38043"/>
                        <a14:foregroundMark x1="17120" y1="20788" x2="17120" y2="20788"/>
                        <a14:foregroundMark x1="16168" y1="20245" x2="16168" y2="20245"/>
                        <a14:foregroundMark x1="34239" y1="10326" x2="34239" y2="10326"/>
                        <a14:foregroundMark x1="33696" y1="11549" x2="33696" y2="11549"/>
                        <a14:foregroundMark x1="33967" y1="11005" x2="33967" y2="11005"/>
                        <a14:foregroundMark x1="54484" y1="6522" x2="54484" y2="6522"/>
                        <a14:foregroundMark x1="56250" y1="5027" x2="56250" y2="5027"/>
                        <a14:foregroundMark x1="55842" y1="5978" x2="55842" y2="5978"/>
                        <a14:foregroundMark x1="56250" y1="6793" x2="56250" y2="6793"/>
                        <a14:foregroundMark x1="56793" y1="5299" x2="56793" y2="5299"/>
                        <a14:foregroundMark x1="15625" y1="17527" x2="15625" y2="17527"/>
                        <a14:foregroundMark x1="14810" y1="18071" x2="14810" y2="18071"/>
                        <a14:foregroundMark x1="14810" y1="18750" x2="14810" y2="18750"/>
                        <a14:foregroundMark x1="14266" y1="19293" x2="14266" y2="19293"/>
                        <a14:foregroundMark x1="13315" y1="19293" x2="13315" y2="19293"/>
                        <a14:foregroundMark x1="13043" y1="20245" x2="13043" y2="20245"/>
                        <a14:foregroundMark x1="12228" y1="21060" x2="12228" y2="21060"/>
                        <a14:foregroundMark x1="12228" y1="21060" x2="12228" y2="21060"/>
                        <a14:foregroundMark x1="13043" y1="21332" x2="13043" y2="21332"/>
                        <a14:foregroundMark x1="12500" y1="21603" x2="12500" y2="21603"/>
                        <a14:foregroundMark x1="12228" y1="22283" x2="12228" y2="22283"/>
                        <a14:foregroundMark x1="11685" y1="22011" x2="11685" y2="22011"/>
                        <a14:foregroundMark x1="12772" y1="23777" x2="12772" y2="23777"/>
                        <a14:foregroundMark x1="12772" y1="25272" x2="12772" y2="25272"/>
                        <a14:foregroundMark x1="12500" y1="25543" x2="12500" y2="25543"/>
                        <a14:foregroundMark x1="9103" y1="67663" x2="9103" y2="67663"/>
                        <a14:foregroundMark x1="9103" y1="63451" x2="9103" y2="63451"/>
                        <a14:foregroundMark x1="9375" y1="59918" x2="9375" y2="59918"/>
                        <a14:foregroundMark x1="75000" y1="90217" x2="75000" y2="90217"/>
                        <a14:foregroundMark x1="70788" y1="85462" x2="70788" y2="85462"/>
                        <a14:foregroundMark x1="72147" y1="89266" x2="72147" y2="89266"/>
                        <a14:foregroundMark x1="74185" y1="91984" x2="74185" y2="91984"/>
                        <a14:foregroundMark x1="84375" y1="85734" x2="84375" y2="85734"/>
                        <a14:foregroundMark x1="81658" y1="91712" x2="81658" y2="91712"/>
                        <a14:foregroundMark x1="81658" y1="91440" x2="81658" y2="91440"/>
                        <a14:foregroundMark x1="78125" y1="87772" x2="78125" y2="87772"/>
                        <a14:foregroundMark x1="15625" y1="15489" x2="20516" y2="12772"/>
                        <a14:foregroundMark x1="15897" y1="15761" x2="20245" y2="12500"/>
                        <a14:foregroundMark x1="14538" y1="13587" x2="14538" y2="13587"/>
                        <a14:foregroundMark x1="14538" y1="11005" x2="14538" y2="11005"/>
                        <a14:foregroundMark x1="15082" y1="9783" x2="15082" y2="9783"/>
                        <a14:foregroundMark x1="15082" y1="9783" x2="16304" y2="9239"/>
                        <a14:foregroundMark x1="18750" y1="8016" x2="18750" y2="8016"/>
                        <a14:foregroundMark x1="19973" y1="8967" x2="19973" y2="8967"/>
                        <a14:foregroundMark x1="19973" y1="11277" x2="19973" y2="11277"/>
                        <a14:foregroundMark x1="13995" y1="11549" x2="13995" y2="11549"/>
                        <a14:foregroundMark x1="13723" y1="12228" x2="13723" y2="12228"/>
                        <a14:foregroundMark x1="3397" y1="43614" x2="3397" y2="43614"/>
                        <a14:foregroundMark x1="3940" y1="44565" x2="3940" y2="44565"/>
                        <a14:foregroundMark x1="95788" y1="60598" x2="95788" y2="60598"/>
                        <a14:foregroundMark x1="96467" y1="58152" x2="96467" y2="58152"/>
                        <a14:foregroundMark x1="5707" y1="30027" x2="5707" y2="30027"/>
                        <a14:backgroundMark x1="76495" y1="91712" x2="76495" y2="91712"/>
                        <a14:backgroundMark x1="815" y1="45380" x2="815" y2="45380"/>
                        <a14:backgroundMark x1="4891" y1="38859" x2="4891" y2="38859"/>
                        <a14:backgroundMark x1="4891" y1="52853" x2="4891" y2="52853"/>
                        <a14:backgroundMark x1="3940" y1="45380" x2="3668" y2="76223"/>
                        <a14:backgroundMark x1="80163" y1="92255" x2="80163" y2="92255"/>
                        <a14:backgroundMark x1="77038" y1="91984" x2="77038" y2="91984"/>
                        <a14:backgroundMark x1="77038" y1="91440" x2="77038" y2="91440"/>
                        <a14:backgroundMark x1="84375" y1="93478" x2="84375" y2="93478"/>
                        <a14:backgroundMark x1="84783" y1="92935" x2="84783" y2="92935"/>
                        <a14:backgroundMark x1="84511" y1="93207" x2="84511" y2="93207"/>
                        <a14:backgroundMark x1="84511" y1="93750" x2="84511" y2="93750"/>
                        <a14:backgroundMark x1="84511" y1="93478" x2="84511" y2="93478"/>
                        <a14:backgroundMark x1="84511" y1="94022" x2="84511" y2="94022"/>
                        <a14:backgroundMark x1="84783" y1="94022" x2="84783" y2="94022"/>
                        <a14:backgroundMark x1="84783" y1="94022" x2="84783" y2="94022"/>
                        <a14:backgroundMark x1="85598" y1="93207" x2="85598" y2="93207"/>
                        <a14:backgroundMark x1="85598" y1="92935" x2="85598" y2="92935"/>
                        <a14:backgroundMark x1="85870" y1="93750" x2="85870" y2="93750"/>
                        <a14:backgroundMark x1="85870" y1="93750" x2="84511" y2="940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681" y="0"/>
            <a:ext cx="2980657" cy="2647508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CF74D07-C3D3-A0B0-2FCB-F96C26E65A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81" y="3787428"/>
            <a:ext cx="3237753" cy="3070572"/>
          </a:xfrm>
          <a:prstGeom prst="ellipse">
            <a:avLst/>
          </a:prstGeom>
          <a:ln>
            <a:noFill/>
          </a:ln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412749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D90F47-CFFE-8A1C-F9C1-ABBB88AB9384}"/>
              </a:ext>
            </a:extLst>
          </p:cNvPr>
          <p:cNvSpPr txBox="1"/>
          <p:nvPr/>
        </p:nvSpPr>
        <p:spPr>
          <a:xfrm>
            <a:off x="1483360" y="1194904"/>
            <a:ext cx="922528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Group Members: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Nabeeha Shoaib  2025-CS-190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Alishba Bibi          2025-CS-203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Isma Wasif           2025-CS-226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Kainat Nasir         2025-CS-232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Anfaal Abbas        2025-CS-233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74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91394-A67D-B636-9EF7-71869BA7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Objectives: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D3D878-7898-C8FC-5E62-D54B4B5D7C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813769"/>
            <a:ext cx="11015869" cy="4305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provide 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students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web development skills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HTML, CSS, JavaScript, and modern frameworks.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help learners build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real-world websites and practical projects.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develop strong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programming skills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C++, Python, and problem-solving.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strengthen students’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technical foundations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through hands-on learning.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support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career readiness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offering projects, guidance, and industry-relevant skills.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prepare students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 job opportunities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tech industry.</a:t>
            </a:r>
          </a:p>
        </p:txBody>
      </p:sp>
    </p:spTree>
    <p:extLst>
      <p:ext uri="{BB962C8B-B14F-4D97-AF65-F5344CB8AC3E}">
        <p14:creationId xmlns:p14="http://schemas.microsoft.com/office/powerpoint/2010/main" val="910856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548C9A-42DA-399A-A808-EE3785D2D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04" y="1870758"/>
            <a:ext cx="5798918" cy="31164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92C3C0-8C7C-D515-38CF-56E9C42AD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881" y="1870758"/>
            <a:ext cx="5798918" cy="31164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4B427A-B47A-8054-C513-9C77D525FE5E}"/>
              </a:ext>
            </a:extLst>
          </p:cNvPr>
          <p:cNvSpPr txBox="1"/>
          <p:nvPr/>
        </p:nvSpPr>
        <p:spPr>
          <a:xfrm>
            <a:off x="4674243" y="601883"/>
            <a:ext cx="2488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Home Page:</a:t>
            </a:r>
          </a:p>
        </p:txBody>
      </p:sp>
    </p:spTree>
    <p:extLst>
      <p:ext uri="{BB962C8B-B14F-4D97-AF65-F5344CB8AC3E}">
        <p14:creationId xmlns:p14="http://schemas.microsoft.com/office/powerpoint/2010/main" val="133313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 0 L 2.5E-6 0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0 L 2.70833E-6 0 " pathEditMode="relative" rAng="0" ptsTypes="AA">
                                      <p:cBhvr>
                                        <p:cTn id="8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DD9E7C3-88E2-697D-C0D0-0EAD0E12A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159" y="1883777"/>
            <a:ext cx="5829782" cy="34521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6E8363-94AF-5CE6-85DA-DA3731BC6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2" y="1883778"/>
            <a:ext cx="6011118" cy="345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74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 -3.33333E-6 L 2.91667E-6 -3.33333E-6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1.11111E-6 L -1.66667E-6 1.11111E-6 " pathEditMode="relative" rAng="0" ptsTypes="AA">
                                      <p:cBhvr>
                                        <p:cTn id="8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ADAF0C-718A-BE8D-8637-0EA2DF2C3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14500"/>
            <a:ext cx="5864504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532D89-ACC8-DBD0-BD65-71EC5EDA7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43" y="1733458"/>
            <a:ext cx="5864503" cy="339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1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 0 L -4.16667E-7 0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-1.85185E-6 L -4.79167E-6 -1.85185E-6 " pathEditMode="relative" rAng="0" ptsTypes="AA">
                                      <p:cBhvr>
                                        <p:cTn id="8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E3DE8B-27AD-5697-69FE-C3D68B50B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9" y="2196445"/>
            <a:ext cx="6007261" cy="3412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344E3F-AC64-E5FF-D9E1-61F43A0A1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837" y="2196445"/>
            <a:ext cx="5900424" cy="34125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1F6C78-1375-CB6B-0773-FC9931981ED5}"/>
              </a:ext>
            </a:extLst>
          </p:cNvPr>
          <p:cNvSpPr txBox="1"/>
          <p:nvPr/>
        </p:nvSpPr>
        <p:spPr>
          <a:xfrm>
            <a:off x="3073138" y="707010"/>
            <a:ext cx="4958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Courses Page:</a:t>
            </a:r>
          </a:p>
        </p:txBody>
      </p:sp>
    </p:spTree>
    <p:extLst>
      <p:ext uri="{BB962C8B-B14F-4D97-AF65-F5344CB8AC3E}">
        <p14:creationId xmlns:p14="http://schemas.microsoft.com/office/powerpoint/2010/main" val="3522008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D9A1AE-641C-FC11-505E-F106E264F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985" y="1805652"/>
            <a:ext cx="6053559" cy="36923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5D7A76-E512-D352-0B9C-6EB1BDD62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6" y="1805652"/>
            <a:ext cx="5868365" cy="369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2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EDA8E8-DD4E-A6AA-9373-7686E57A9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386" y="1115223"/>
            <a:ext cx="7234177" cy="462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70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89D36F-B1C8-350A-A2A7-15104CC8B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36" y="2004351"/>
            <a:ext cx="6092142" cy="37019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5A0664-1269-BAC3-28A7-C5A217DC4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478" y="2004351"/>
            <a:ext cx="5783486" cy="37019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C730BE-327B-5977-9551-613542EB657B}"/>
              </a:ext>
            </a:extLst>
          </p:cNvPr>
          <p:cNvSpPr txBox="1"/>
          <p:nvPr/>
        </p:nvSpPr>
        <p:spPr>
          <a:xfrm>
            <a:off x="2740774" y="782348"/>
            <a:ext cx="6344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Contact Page:</a:t>
            </a:r>
          </a:p>
        </p:txBody>
      </p:sp>
    </p:spTree>
    <p:extLst>
      <p:ext uri="{BB962C8B-B14F-4D97-AF65-F5344CB8AC3E}">
        <p14:creationId xmlns:p14="http://schemas.microsoft.com/office/powerpoint/2010/main" val="73932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E7332-5047-E519-D40D-3A706331A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Reflection: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64035-9D5E-A090-D6C7-57B3CD0A0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156252"/>
            <a:ext cx="10131425" cy="454549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 Students have gained practical tech skills in web development, programming, and problem-solving.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 Hands-on projects have helped learners apply skills to real-world scenarios.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 Career guidance has increased students’ confidence and job readiness.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 The company has successfully bridged the gap between education and industry demands.</a:t>
            </a:r>
          </a:p>
        </p:txBody>
      </p:sp>
    </p:spTree>
    <p:extLst>
      <p:ext uri="{BB962C8B-B14F-4D97-AF65-F5344CB8AC3E}">
        <p14:creationId xmlns:p14="http://schemas.microsoft.com/office/powerpoint/2010/main" val="208881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0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3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6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1EBE-766E-8287-FC8E-4BF2F7872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Next steps: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8FCA9C-4CE3-B52B-0E08-30F4C45ADB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9173" y="1881613"/>
            <a:ext cx="6853158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Expand advanced tech courses and frameworks.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Introduce certifications recognized by the industry.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Partner with companies for internships and placements.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Launch mentorship programs and online assessments.</a:t>
            </a:r>
          </a:p>
        </p:txBody>
      </p:sp>
    </p:spTree>
    <p:extLst>
      <p:ext uri="{BB962C8B-B14F-4D97-AF65-F5344CB8AC3E}">
        <p14:creationId xmlns:p14="http://schemas.microsoft.com/office/powerpoint/2010/main" val="196360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1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1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1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512EF8-3DF3-3F68-88BF-E65DFBA76D21}"/>
              </a:ext>
            </a:extLst>
          </p:cNvPr>
          <p:cNvSpPr txBox="1"/>
          <p:nvPr/>
        </p:nvSpPr>
        <p:spPr>
          <a:xfrm>
            <a:off x="652932" y="3546988"/>
            <a:ext cx="1130709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Data Summary – Student Enrollment Analysis (Column Chart)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HTML:</a:t>
            </a:r>
            <a:r>
              <a:rPr lang="en-US" sz="2000" dirty="0"/>
              <a:t> 8 students (highest enrollment)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CSS:</a:t>
            </a:r>
            <a:r>
              <a:rPr lang="en-US" sz="2000" dirty="0"/>
              <a:t> 7 students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Git &amp; GitHub:</a:t>
            </a:r>
            <a:r>
              <a:rPr lang="en-US" sz="2000" dirty="0"/>
              <a:t> 7 students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Microsoft Office:</a:t>
            </a:r>
            <a:r>
              <a:rPr lang="en-US" sz="2000" dirty="0"/>
              <a:t> 6 students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Digital Marketing:</a:t>
            </a:r>
            <a:r>
              <a:rPr lang="en-US" sz="2000" dirty="0"/>
              <a:t> 6 students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LinkedIn:</a:t>
            </a:r>
            <a:r>
              <a:rPr lang="en-US" sz="2000" dirty="0"/>
              <a:t> 4 students (lowest enrollment)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BE5236D-E924-4718-B88E-226D5C2891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111818"/>
              </p:ext>
            </p:extLst>
          </p:nvPr>
        </p:nvGraphicFramePr>
        <p:xfrm>
          <a:off x="3288665" y="660400"/>
          <a:ext cx="4883150" cy="276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883020" imgH="2768554" progId="Excel.Sheet.12">
                  <p:embed/>
                </p:oleObj>
              </mc:Choice>
              <mc:Fallback>
                <p:oleObj name="Worksheet" r:id="rId2" imgW="4883020" imgH="276855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88665" y="660400"/>
                        <a:ext cx="4883150" cy="276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118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DDA1C6-5FC6-1827-3605-3C074D03A168}"/>
              </a:ext>
            </a:extLst>
          </p:cNvPr>
          <p:cNvSpPr txBox="1"/>
          <p:nvPr/>
        </p:nvSpPr>
        <p:spPr>
          <a:xfrm>
            <a:off x="792870" y="505447"/>
            <a:ext cx="11513575" cy="2344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Overall insights: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Enrollment is strongest in </a:t>
            </a:r>
            <a:r>
              <a:rPr lang="en-US" sz="2000" b="1" dirty="0"/>
              <a:t>web development basics (HTML, CSS)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Git &amp; GitHub</a:t>
            </a:r>
            <a:r>
              <a:rPr lang="en-US" sz="2000" dirty="0"/>
              <a:t> also shows high interest, equal to CSS.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Microsoft Office and Digital Marketing</a:t>
            </a:r>
            <a:r>
              <a:rPr lang="en-US" sz="2000" dirty="0"/>
              <a:t> have moderate enrollment.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LinkedIn</a:t>
            </a:r>
            <a:r>
              <a:rPr lang="en-US" sz="2000" dirty="0"/>
              <a:t> has the least number of students, indicating lower interest compared to other courses</a:t>
            </a:r>
            <a:r>
              <a:rPr lang="en-US" dirty="0"/>
              <a:t>.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9369B64-174D-C9EC-376A-16DD99B694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120229"/>
              </p:ext>
            </p:extLst>
          </p:nvPr>
        </p:nvGraphicFramePr>
        <p:xfrm>
          <a:off x="3166745" y="3429000"/>
          <a:ext cx="5492750" cy="276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492620" imgH="2768554" progId="Excel.Sheet.12">
                  <p:embed/>
                </p:oleObj>
              </mc:Choice>
              <mc:Fallback>
                <p:oleObj name="Worksheet" r:id="rId2" imgW="5492620" imgH="276855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66745" y="3429000"/>
                        <a:ext cx="5492750" cy="276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312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3FDE5D-866D-C1A8-3345-BE5601648049}"/>
              </a:ext>
            </a:extLst>
          </p:cNvPr>
          <p:cNvSpPr txBox="1"/>
          <p:nvPr/>
        </p:nvSpPr>
        <p:spPr>
          <a:xfrm>
            <a:off x="442452" y="530942"/>
            <a:ext cx="11297264" cy="603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Data Summary – Student Revenue by Course (Pie Chart)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HTML:</a:t>
            </a:r>
            <a:r>
              <a:rPr lang="en-US" sz="2000" dirty="0"/>
              <a:t> 21% (highest revenue contribution)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CSS:</a:t>
            </a:r>
            <a:r>
              <a:rPr lang="en-US" sz="2000" dirty="0"/>
              <a:t> 18%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Git &amp; GitHub:</a:t>
            </a:r>
            <a:r>
              <a:rPr lang="en-US" sz="2000" dirty="0"/>
              <a:t> 18%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Microsoft Office:</a:t>
            </a:r>
            <a:r>
              <a:rPr lang="en-US" sz="2000" dirty="0"/>
              <a:t> 16%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Digital Marketing:</a:t>
            </a:r>
            <a:r>
              <a:rPr lang="en-US" sz="2000" dirty="0"/>
              <a:t> 16%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LinkedIn:</a:t>
            </a:r>
            <a:r>
              <a:rPr lang="en-US" sz="2000" dirty="0"/>
              <a:t> 11% (lowest revenue contribution)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Overall insights: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HTML</a:t>
            </a:r>
            <a:r>
              <a:rPr lang="en-US" sz="2000" dirty="0"/>
              <a:t> generates the highest share of revenue.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CSS and Git &amp; GitHub</a:t>
            </a:r>
            <a:r>
              <a:rPr lang="en-US" sz="2000" dirty="0"/>
              <a:t> contribute equally and form the second-highest revenue group.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Microsoft Office and Digital Marketing</a:t>
            </a:r>
            <a:r>
              <a:rPr lang="en-US" sz="2000" dirty="0"/>
              <a:t> provide moderate revenue.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LinkedIn</a:t>
            </a:r>
            <a:r>
              <a:rPr lang="en-US" sz="2000" dirty="0"/>
              <a:t> contributes the least to overall student revenue.</a:t>
            </a:r>
          </a:p>
        </p:txBody>
      </p:sp>
    </p:spTree>
    <p:extLst>
      <p:ext uri="{BB962C8B-B14F-4D97-AF65-F5344CB8AC3E}">
        <p14:creationId xmlns:p14="http://schemas.microsoft.com/office/powerpoint/2010/main" val="412646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C075BB-9885-D6B2-13D6-C2CDF1D452E1}"/>
              </a:ext>
            </a:extLst>
          </p:cNvPr>
          <p:cNvSpPr txBox="1"/>
          <p:nvPr/>
        </p:nvSpPr>
        <p:spPr>
          <a:xfrm>
            <a:off x="659219" y="3492142"/>
            <a:ext cx="11185451" cy="3365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Data Summary – Average Fee per Course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CSS:</a:t>
            </a:r>
            <a:r>
              <a:rPr lang="en-US" dirty="0"/>
              <a:t> </a:t>
            </a:r>
            <a:r>
              <a:rPr lang="en-US" b="1" dirty="0"/>
              <a:t>3928.57</a:t>
            </a:r>
            <a:r>
              <a:rPr lang="en-US" dirty="0"/>
              <a:t> (Most expensive course)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Html:</a:t>
            </a:r>
            <a:r>
              <a:rPr lang="en-US" dirty="0"/>
              <a:t> </a:t>
            </a:r>
            <a:r>
              <a:rPr lang="en-US" b="1" dirty="0"/>
              <a:t>3437.50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Digital Marketing:</a:t>
            </a:r>
            <a:r>
              <a:rPr lang="en-US" dirty="0"/>
              <a:t> </a:t>
            </a:r>
            <a:r>
              <a:rPr lang="en-US" b="1" dirty="0"/>
              <a:t>3166.67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Microsoft Office:</a:t>
            </a:r>
            <a:r>
              <a:rPr lang="en-US" dirty="0"/>
              <a:t> </a:t>
            </a:r>
            <a:r>
              <a:rPr lang="en-US" b="1" dirty="0"/>
              <a:t>2500.00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LinkedIn:</a:t>
            </a:r>
            <a:r>
              <a:rPr lang="en-US" dirty="0"/>
              <a:t> </a:t>
            </a:r>
            <a:r>
              <a:rPr lang="en-US" b="1" dirty="0"/>
              <a:t>1000.00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Git &amp; GitHub:</a:t>
            </a:r>
            <a:r>
              <a:rPr lang="en-US" dirty="0"/>
              <a:t> </a:t>
            </a:r>
            <a:r>
              <a:rPr lang="en-US" b="1" dirty="0"/>
              <a:t>571.43</a:t>
            </a:r>
            <a:r>
              <a:rPr lang="en-US" dirty="0"/>
              <a:t> (Least expensive course)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Overall Average (Total):</a:t>
            </a:r>
            <a:r>
              <a:rPr lang="en-US" dirty="0"/>
              <a:t> </a:t>
            </a:r>
            <a:r>
              <a:rPr lang="en-US" b="1" dirty="0"/>
              <a:t>2434.03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7BD2BAA-D237-9A90-EF20-E6E0D1F4D7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618348"/>
              </p:ext>
            </p:extLst>
          </p:nvPr>
        </p:nvGraphicFramePr>
        <p:xfrm>
          <a:off x="3349625" y="478473"/>
          <a:ext cx="5492750" cy="276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492620" imgH="2768554" progId="Excel.Sheet.12">
                  <p:embed/>
                </p:oleObj>
              </mc:Choice>
              <mc:Fallback>
                <p:oleObj name="Worksheet" r:id="rId3" imgW="5492620" imgH="276855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9625" y="478473"/>
                        <a:ext cx="5492750" cy="276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6936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11146DFE-EAC7-42DC-D6B1-84654AFEC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707" y="644924"/>
            <a:ext cx="9792586" cy="4652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Overall Insights: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Highest Average Fee: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CSS has the highest average fee, with HTML slightly behind, showing strong demand for web development skills.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Pricing Gap: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There is a clear difference in pricing between technical web courses and basic tools; CSS costs almost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7 times more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than Git &amp; GitHub.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Mid-Range Courses: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Digital Marketing and Microsoft Office are moderately priced and sit close to the overall average.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8905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F45192D-72DE-50CB-A8DC-C2E030F9E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59" y="1832463"/>
            <a:ext cx="11600121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Lowest Average Fee: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Git &amp; GitHub is the cheapest course, but its high enrollment makes it a strong revenue contributor.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Benchmark Value: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overall average fee is around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2434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which is useful for comparing expensive and affordable courses.</a:t>
            </a:r>
          </a:p>
        </p:txBody>
      </p:sp>
    </p:spTree>
    <p:extLst>
      <p:ext uri="{BB962C8B-B14F-4D97-AF65-F5344CB8AC3E}">
        <p14:creationId xmlns:p14="http://schemas.microsoft.com/office/powerpoint/2010/main" val="4159194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1532C-B5E7-50D2-DE9C-02C04D32D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1" y="-186088"/>
            <a:ext cx="10131425" cy="1812757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2800" dirty="0"/>
              <a:t>  Design Decisions: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60685-D808-0652-294F-911110DC4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164" y="1520061"/>
            <a:ext cx="10841671" cy="5717406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8000" b="1" dirty="0">
                <a:latin typeface="+mj-lt"/>
              </a:rPr>
              <a:t>1. Dark Background with High-Contrast Text</a:t>
            </a:r>
            <a:endParaRPr lang="en-US" sz="8000" dirty="0">
              <a:latin typeface="+mj-lt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sz="8000" dirty="0"/>
              <a:t>Used a deep, dark background paired with bright white text.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sz="8000" dirty="0"/>
              <a:t>Creates a modern, tech-focused aesthetic.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sz="8000" dirty="0"/>
              <a:t>Improves readability and reduces eye strain during prolonged learning sessions.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8000" b="1" dirty="0">
                <a:latin typeface="+mj-lt"/>
              </a:rPr>
              <a:t>2. Full-Width Hero Banner</a:t>
            </a:r>
            <a:endParaRPr lang="en-US" sz="8000" dirty="0">
              <a:latin typeface="+mj-lt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sz="8000" dirty="0"/>
              <a:t>Implemented a full-width banner on the header section.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sz="8000" dirty="0"/>
              <a:t>Centered tagline </a:t>
            </a:r>
            <a:r>
              <a:rPr lang="en-US" sz="8000" b="1" dirty="0"/>
              <a:t>“Your Bridge to a Brighter Career”</a:t>
            </a:r>
            <a:r>
              <a:rPr lang="en-US" sz="8000" dirty="0"/>
              <a:t> to make it the first visual priority.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sz="8000" dirty="0"/>
              <a:t>Ensures immediate brand recognition and clear messaging.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4200" dirty="0"/>
              <a:t>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v"/>
            </a:pPr>
            <a:endParaRPr lang="en-US" sz="4200" dirty="0"/>
          </a:p>
          <a:p>
            <a:pPr marL="0" indent="0">
              <a:lnSpc>
                <a:spcPct val="170000"/>
              </a:lnSpc>
              <a:buNone/>
            </a:pPr>
            <a:endParaRPr lang="en-US" sz="42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42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760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1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8" dur="1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1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125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F0394-1A5B-D3A6-BDAF-BF19A094B4F4}"/>
              </a:ext>
            </a:extLst>
          </p:cNvPr>
          <p:cNvSpPr txBox="1"/>
          <p:nvPr/>
        </p:nvSpPr>
        <p:spPr>
          <a:xfrm>
            <a:off x="883920" y="934720"/>
            <a:ext cx="10454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720B4C-6884-EC61-83C4-406D1810463E}"/>
              </a:ext>
            </a:extLst>
          </p:cNvPr>
          <p:cNvSpPr txBox="1"/>
          <p:nvPr/>
        </p:nvSpPr>
        <p:spPr>
          <a:xfrm>
            <a:off x="853440" y="861903"/>
            <a:ext cx="1012952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3. Clean and Simple Navigation</a:t>
            </a:r>
            <a:endParaRPr lang="en-US" sz="20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Designed a minimal top navigation menu.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Includes logically grouped sections: </a:t>
            </a:r>
            <a:r>
              <a:rPr lang="en-US" sz="2000" b="1" dirty="0"/>
              <a:t>About, Courses, Training, Contact</a:t>
            </a:r>
            <a:r>
              <a:rPr lang="en-US" sz="20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Enhances usability and allows users to find information quickly.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4. Typography Choice – Arial with Fallback</a:t>
            </a:r>
            <a:endParaRPr lang="en-US" sz="20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Chose </a:t>
            </a:r>
            <a:r>
              <a:rPr lang="en-US" sz="2000" b="1" dirty="0"/>
              <a:t>Arial</a:t>
            </a:r>
            <a:r>
              <a:rPr lang="en-US" sz="2000" dirty="0"/>
              <a:t> as the primary font for all headings (h1, h2, h3) because it is a modern, professional, and suitable for digital screens.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Included Helvetica and </a:t>
            </a:r>
            <a:r>
              <a:rPr lang="en-US" sz="2000" b="1" dirty="0"/>
              <a:t>sans-serif</a:t>
            </a:r>
            <a:r>
              <a:rPr lang="en-US" sz="2000" dirty="0"/>
              <a:t> as a fallback font to ensure consistent text appearance if the Arial font fails load, maintaining compatibility across different browsers and devices.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78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3B13D4-DCC7-A280-3E7D-8955EC9E1878}"/>
              </a:ext>
            </a:extLst>
          </p:cNvPr>
          <p:cNvSpPr txBox="1"/>
          <p:nvPr/>
        </p:nvSpPr>
        <p:spPr>
          <a:xfrm>
            <a:off x="1122680" y="896524"/>
            <a:ext cx="9946640" cy="603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5. </a:t>
            </a:r>
            <a:r>
              <a:rPr lang="en-US" sz="2000" b="1" dirty="0">
                <a:latin typeface="+mj-lt"/>
              </a:rPr>
              <a:t>Modern Gradient Styling</a:t>
            </a:r>
            <a:endParaRPr lang="en-US" sz="20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Applied a CSS linear gradient to the hero section and the header/footer of all pages except the signup and login pages.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Gradient used:</a:t>
            </a:r>
            <a:br>
              <a:rPr lang="en-US" sz="2000" dirty="0"/>
            </a:br>
            <a:r>
              <a:rPr lang="en-US" sz="2000" dirty="0"/>
              <a:t>linear-gradient(135deg, #04062c 40%, #4a0080 70%, #d63384 100%)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Adds visual interest while maintaining a professional and modern look.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Live Demo (Website):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hlinkClick r:id="rId2"/>
              </a:rPr>
              <a:t>https://nabeehashoaib.github.io/SkillBridge-Tech-AICT-Project/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GitHub URL: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hlinkClick r:id="rId3"/>
              </a:rPr>
              <a:t>1-https://github.com/NabeehaShoaib/SkillBridge-Tech-AICT-Project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hlinkClick r:id="rId4"/>
              </a:rPr>
              <a:t>2-SkillBridge-Tech-Project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0045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99383C-887E-5552-3442-35F43D69ACB2}"/>
              </a:ext>
            </a:extLst>
          </p:cNvPr>
          <p:cNvSpPr txBox="1"/>
          <p:nvPr/>
        </p:nvSpPr>
        <p:spPr>
          <a:xfrm>
            <a:off x="4152276" y="3013501"/>
            <a:ext cx="5666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2451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{771485CD-4379-4B52-87E6-BD822DB5DBAE}TFb5ae2469-0bae-4978-b0e0-39dd046150ff9a115ede-a9c3cc5252b0</Template>
  <TotalTime>1384</TotalTime>
  <Words>839</Words>
  <Application>Microsoft Office PowerPoint</Application>
  <PresentationFormat>Widescreen</PresentationFormat>
  <Paragraphs>105</Paragraphs>
  <Slides>22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Georgia</vt:lpstr>
      <vt:lpstr>Wingdings</vt:lpstr>
      <vt:lpstr>Celestial</vt:lpstr>
      <vt:lpstr>Worksheet</vt:lpstr>
      <vt:lpstr>Project title:  skill-bridge tech</vt:lpstr>
      <vt:lpstr>PowerPoint Presentation</vt:lpstr>
      <vt:lpstr>Objectives: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Reflection:</vt:lpstr>
      <vt:lpstr>Next steps: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Design Decisions: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Boss</dc:creator>
  <cp:lastModifiedBy>Boss</cp:lastModifiedBy>
  <cp:revision>14</cp:revision>
  <dcterms:created xsi:type="dcterms:W3CDTF">2026-01-02T09:43:51Z</dcterms:created>
  <dcterms:modified xsi:type="dcterms:W3CDTF">2026-01-05T02:55:17Z</dcterms:modified>
</cp:coreProperties>
</file>